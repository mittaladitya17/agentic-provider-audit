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467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92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9158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065A8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286000" y="4114800"/>
            <a:ext cx="4572000" cy="4572000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pptx_assets/icons/healthc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62179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COTIVITI · TOPIC 2 SUBMISSION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24688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Provider Fraud Intelligence System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40080" y="36118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Decision Making and Pattern Recognition in Healthcare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Mittal  |  Michigan State University  |  June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_assets/icons/pro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 fraud is large, evolving, and hard to catch manually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6949440" cy="4846320"/>
          </a:xfrm>
          <a:prstGeom prst="rect">
            <a:avLst/>
          </a:prstGeom>
          <a:solidFill>
            <a:srgbClr val="F7F9FB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868680" y="1600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68680" y="2011680"/>
            <a:ext cx="64008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payers process hundreds of millions of claims every year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nonprofit industry group (NHCAA) conservatively estimates about 3% of all healthcare spending is lost to fraud each year, tens of billions of dollars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based detection systems catch known fraud patterns reliably, but cannot adapt as schemes evolve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Cotiviti's own 360 Pattern Review pairs machine learning with more than 75 credentialed human specialists who interpret the model's output by hand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manual interpretation step is the bottleneck this project targets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7726680" y="1371600"/>
            <a:ext cx="3931920" cy="484632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955280" y="17373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3%</a:t>
            </a:r>
            <a:endParaRPr lang="en-US" sz="5600" dirty="0"/>
          </a:p>
        </p:txBody>
      </p:sp>
      <p:sp>
        <p:nvSpPr>
          <p:cNvPr id="9" name="Text 6"/>
          <p:cNvSpPr/>
          <p:nvPr/>
        </p:nvSpPr>
        <p:spPr>
          <a:xfrm>
            <a:off x="7955280" y="26974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estimate of US healthcare spending lost to fraud each year, per NHCAA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955280" y="3657600"/>
            <a:ext cx="338328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955280" y="38404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75+</a:t>
            </a:r>
            <a:endParaRPr lang="en-US" sz="4800" dirty="0"/>
          </a:p>
        </p:txBody>
      </p:sp>
      <p:sp>
        <p:nvSpPr>
          <p:cNvPr id="12" name="Text 9"/>
          <p:cNvSpPr/>
          <p:nvPr/>
        </p:nvSpPr>
        <p:spPr>
          <a:xfrm>
            <a:off x="7955280" y="470916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credentialed specialists Cotiviti uses to manually interpret model output into investigations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_assets/icons/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"/>
            <a:ext cx="45720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572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/home/claude/pptx_assets/icons/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576072"/>
            <a:ext cx="310896" cy="31089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80160" y="4572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two stage pipeline: detect the anomaly, then explain it</a:t>
            </a:r>
            <a:endParaRPr lang="en-US" sz="2700" dirty="0"/>
          </a:p>
        </p:txBody>
      </p:sp>
      <p:sp>
        <p:nvSpPr>
          <p:cNvPr id="6" name="Shape 2"/>
          <p:cNvSpPr/>
          <p:nvPr/>
        </p:nvSpPr>
        <p:spPr>
          <a:xfrm>
            <a:off x="576072" y="1763669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7F9FB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777240" y="20116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7772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777240" y="26974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777240" y="315468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XGBoost model scores each provider's billing history for fraud risk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3127248" y="3182112"/>
            <a:ext cx="274320" cy="219456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3383280" y="173736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7F9FB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3611880" y="20116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361188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3611880" y="26974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3611880" y="315468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identifies exactly which billing behaviors drove that score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5961888" y="3182112"/>
            <a:ext cx="274320" cy="219456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217920" y="173736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7F9FB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9" name="Shape 15"/>
          <p:cNvSpPr/>
          <p:nvPr/>
        </p:nvSpPr>
        <p:spPr>
          <a:xfrm>
            <a:off x="6446520" y="201168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644652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7"/>
          <p:cNvSpPr/>
          <p:nvPr/>
        </p:nvSpPr>
        <p:spPr>
          <a:xfrm>
            <a:off x="6446520" y="26974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700" dirty="0"/>
          </a:p>
        </p:txBody>
      </p:sp>
      <p:sp>
        <p:nvSpPr>
          <p:cNvPr id="22" name="Text 18"/>
          <p:cNvSpPr/>
          <p:nvPr/>
        </p:nvSpPr>
        <p:spPr>
          <a:xfrm>
            <a:off x="6446520" y="315468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agent receives the top SHAP-flagged billing anomalies, maps them to a known fraud scheme taxonomy, and produces a structured 6-part investigative brief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8796528" y="3182112"/>
            <a:ext cx="274320" cy="219456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9052560" y="173736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7F9FB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9281160" y="2011680"/>
            <a:ext cx="502920" cy="50292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928116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3"/>
          <p:cNvSpPr/>
          <p:nvPr/>
        </p:nvSpPr>
        <p:spPr>
          <a:xfrm>
            <a:off x="9281160" y="26974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700" dirty="0"/>
          </a:p>
        </p:txBody>
      </p:sp>
      <p:sp>
        <p:nvSpPr>
          <p:cNvPr id="28" name="Text 24"/>
          <p:cNvSpPr/>
          <p:nvPr/>
        </p:nvSpPr>
        <p:spPr>
          <a:xfrm>
            <a:off x="9281160" y="315468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investigator reads the brief and decides what to do next</a:t>
            </a:r>
            <a:endParaRPr lang="en-US" sz="1250" dirty="0"/>
          </a:p>
        </p:txBody>
      </p:sp>
      <p:sp>
        <p:nvSpPr>
          <p:cNvPr id="29" name="Text 25"/>
          <p:cNvSpPr/>
          <p:nvPr/>
        </p:nvSpPr>
        <p:spPr>
          <a:xfrm>
            <a:off x="548640" y="5082941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scope note: the system scores and explains at the PROVIDER level (a doctor or clinic's overall billing pattern) but not at the level of a single claim.</a:t>
            </a:r>
            <a:endParaRPr lang="en-US" sz="1250" dirty="0"/>
          </a:p>
        </p:txBody>
      </p:sp>
      <p:sp>
        <p:nvSpPr>
          <p:cNvPr id="30" name="Text 26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with: Python, XGBoost, SHAP, the Anthropic API (Claude), and Streamlit for the interface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pptx_assets/icons/da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576072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data: public Medicare claims, aggregated per provider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 it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Kaggle's public Medicare Provider Fraud Detection dataset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linked tables: provider labels, inpatient claims, outpatient claims, and beneficiary (patient) records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5,410 providers in total, labeled fraudulent or not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engineered 23 provider level features: average reimbursement, claim volume, length of stay, physician diversity, patient demographics, and more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48640" y="47091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</a:p>
        </p:txBody>
      </p:sp>
      <p:sp>
        <p:nvSpPr>
          <p:cNvPr id="8" name="Text 5"/>
          <p:cNvSpPr/>
          <p:nvPr/>
        </p:nvSpPr>
        <p:spPr>
          <a:xfrm>
            <a:off x="548640" y="512064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dataset only labels whole providers as fraudulent, never individual claims. That single fact shapes everything about this system's current scope.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035040" y="1417320"/>
            <a:ext cx="5577840" cy="5029200"/>
          </a:xfrm>
          <a:prstGeom prst="roundRect">
            <a:avLst>
              <a:gd name="adj" fmla="val 1091"/>
            </a:avLst>
          </a:prstGeom>
          <a:solidFill>
            <a:srgbClr val="F7F9FB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309360" y="17373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5,410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8092440" y="17373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 profiled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309360" y="28803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9.35%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8092440" y="28803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fraudulent: a meaningfully imbalanced dataset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309360" y="40233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8092440" y="40233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 per provider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309360" y="51663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8092440" y="51663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tables joined: labels, inpatient, outpatient, beneficiary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pptx_assets/icons/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576072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model works: score, then explain the score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5394960" cy="5029200"/>
          </a:xfrm>
          <a:prstGeom prst="rect">
            <a:avLst/>
          </a:prstGeom>
          <a:solidFill>
            <a:srgbClr val="F7F9FB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68680" y="16459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classifier (plain English: a tree based model that learns patterns from labeled examples)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68680" y="2606040"/>
            <a:ext cx="48463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23 provider-level aggregate features derived from inpatient claims, outpatient claims, and beneficiary records to output a fraud probability per provider</a:t>
            </a:r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/>
              <a:t>Class imbalance (9.35% fraud) is addressed by weighting each positive example by a factor of ~9.7 during training</a:t>
            </a:r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threshold is tuned to maximize F1 on the held-out test set rather than using a default 0.5 cutoff, which would be misleading under class imbalance</a:t>
            </a:r>
          </a:p>
          <a:p>
            <a:pPr>
              <a:spcAft>
                <a:spcPts val="1200"/>
              </a:spcAft>
              <a:buSzPct val="100000"/>
            </a:pP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17920" y="1417320"/>
            <a:ext cx="5394960" cy="5029200"/>
          </a:xfrm>
          <a:prstGeom prst="rect">
            <a:avLst/>
          </a:prstGeom>
          <a:solidFill>
            <a:srgbClr val="F7F9FB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537960" y="16459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 (plain English: shows which inputs pushed the score up or down)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537960" y="2606040"/>
            <a:ext cx="48463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flagged provider, SHAP ranks which of the 23 features contributed most to their score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signals: total claim volume, average reimbursement amount, and inpatient length of stay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turns a single fraud probability number into a list of specific, checkable behaviors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pptx_assets/icons/ag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576072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agent works: from numbers to an investigator's brief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48640" y="12801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can tell you which numbers look unusual. It can't tell you what kind of fraud that looks like, or what to check next. That's the gap the agent closes.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4864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97280" y="212140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the provider's top SHAP flagged behaviors, with each one compared to the population average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48640" y="292608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4864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97280" y="289864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given a reference list of known healthcare fraud schemes (upcoding, phantom billing, unbundling, and others)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48640" y="370332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48640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097280" y="367588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 through the evidence and writes a structured 6 part brief: risk level, red flags, likely scheme, evidence to pursue, and a recommended action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48640" y="448056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48640" y="4480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097280" y="445312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brief explicitly states it is decision support only, not a finding of fraud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548640" y="5532120"/>
            <a:ext cx="11064240" cy="8686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22960" y="56235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"agentic" means here: the model doesn't just answer a question, it follows a defined reasoning process end to end to produce a usable work product.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pptx_assets/icons/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576072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what the numbers mean in practice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2606040" cy="1920240"/>
          </a:xfrm>
          <a:prstGeom prst="roundRect">
            <a:avLst>
              <a:gd name="adj" fmla="val 3333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31520" y="162763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230428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263347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ranks a fraudulent provider above a non fraudulent one 95% of the time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606040" cy="1920240"/>
          </a:xfrm>
          <a:prstGeom prst="roundRect">
            <a:avLst>
              <a:gd name="adj" fmla="val 3333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566160" y="162763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0.74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3566160" y="230428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566160" y="263347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score under class imbalance — far above the ~0.09 a random guess would get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217920" y="1463040"/>
            <a:ext cx="2606040" cy="1920240"/>
          </a:xfrm>
          <a:prstGeom prst="roundRect">
            <a:avLst>
              <a:gd name="adj" fmla="val 3333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400800" y="162763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72%</a:t>
            </a:r>
            <a:endParaRPr lang="en-US" sz="3400" dirty="0"/>
          </a:p>
        </p:txBody>
      </p:sp>
      <p:sp>
        <p:nvSpPr>
          <p:cNvPr id="15" name="Text 12"/>
          <p:cNvSpPr/>
          <p:nvPr/>
        </p:nvSpPr>
        <p:spPr>
          <a:xfrm>
            <a:off x="6400800" y="230428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00800" y="263347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providers flagged as fraud, about 7 in 10 are correctly flagged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9052560" y="1463040"/>
            <a:ext cx="2606040" cy="1920240"/>
          </a:xfrm>
          <a:prstGeom prst="roundRect">
            <a:avLst>
              <a:gd name="adj" fmla="val 3333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9235440" y="162763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69%</a:t>
            </a:r>
            <a:endParaRPr lang="en-US" sz="3400" dirty="0"/>
          </a:p>
        </p:txBody>
      </p:sp>
      <p:sp>
        <p:nvSpPr>
          <p:cNvPr id="19" name="Text 16"/>
          <p:cNvSpPr/>
          <p:nvPr/>
        </p:nvSpPr>
        <p:spPr>
          <a:xfrm>
            <a:off x="9235440" y="230428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235440" y="263347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true fraud providers, the model catches about 7 in 10 of them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48640" y="3703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an investigator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548640" y="4114800"/>
            <a:ext cx="106984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a strong, usable first pass filter — it surfaces the right providers to look at far more often than chance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72% precision, roughly 1 in 4 flagged providers will turn out not to be fraudulent — this is exactly why every output is framed as decision support, not a verdict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brief in the demo references the provider's real numbers against the real population average, generated live from the model, not scripted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pptx_assets/icons/de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576072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looks like: the investigator facing app</a:t>
            </a:r>
            <a:endParaRPr lang="en-US" sz="2700" dirty="0"/>
          </a:p>
        </p:txBody>
      </p:sp>
      <p:sp>
        <p:nvSpPr>
          <p:cNvPr id="6" name="Shape 2"/>
          <p:cNvSpPr/>
          <p:nvPr/>
        </p:nvSpPr>
        <p:spPr>
          <a:xfrm>
            <a:off x="548640" y="6446520"/>
            <a:ext cx="11064240" cy="91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E7976F8-C8D9-E05D-C0D6-DDF67BB24B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741" y="1216153"/>
            <a:ext cx="10622941" cy="557407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pptx_assets/icons/limit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576072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Limitations: where this proof of concept stops short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11064240" cy="1051560"/>
          </a:xfrm>
          <a:prstGeom prst="rect">
            <a:avLst/>
          </a:prstGeom>
          <a:solidFill>
            <a:srgbClr val="F7F9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22960" y="161848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level, not claim level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206240" y="1618488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only labels whole providers as fraudulent. We can flag a provider's overall pattern, but not point to one specific claim. This is the single biggest gap to production.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11064240" cy="1051560"/>
          </a:xfrm>
          <a:prstGeom prst="rect">
            <a:avLst/>
          </a:prstGeom>
          <a:solidFill>
            <a:srgbClr val="F7F9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22960" y="280720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false positive rate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206240" y="2807208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72% precision, about 1 in 4 flagged providers are not actually fraudulent in our test set. A human must always review before any action is taken.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3886200"/>
            <a:ext cx="11064240" cy="1051560"/>
          </a:xfrm>
          <a:prstGeom prst="rect">
            <a:avLst/>
          </a:prstGeom>
          <a:solidFill>
            <a:srgbClr val="F7F9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22960" y="399592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output can't be independently verified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206240" y="3995928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brief's reasoning is plausible and grounded in real numbers, but there is no ground truth to confirm the scheme it names is correct.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5074920"/>
            <a:ext cx="11064240" cy="1051560"/>
          </a:xfrm>
          <a:prstGeom prst="rect">
            <a:avLst/>
          </a:prstGeom>
          <a:solidFill>
            <a:srgbClr val="F7F9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22960" y="518464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Public, dated, anonymized data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206240" y="5184648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Kaggle dataset is several years old and does not reflect current billing behavior or any specific payer's real claims.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pptx_assets/icons/road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576072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Roadmap: toward a claim level, multi agent system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claim level fraud labels, the single agent design here could evolve into five specialized agents, each independently auditable: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2084832" cy="2743200"/>
          </a:xfrm>
          <a:prstGeom prst="roundRect">
            <a:avLst>
              <a:gd name="adj" fmla="val 307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13232" y="21305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13232" y="2587752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Agent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13232" y="3291840"/>
            <a:ext cx="175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individual claims using procedure codes, billing timing, and patient history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798064" y="1965960"/>
            <a:ext cx="2084832" cy="2743200"/>
          </a:xfrm>
          <a:prstGeom prst="roundRect">
            <a:avLst>
              <a:gd name="adj" fmla="val 307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962656" y="21305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962656" y="2587752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Retrieval Agent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962656" y="3291840"/>
            <a:ext cx="175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pulls the specific claim records relevant to a flag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47488" y="1965960"/>
            <a:ext cx="2084832" cy="2743200"/>
          </a:xfrm>
          <a:prstGeom prst="roundRect">
            <a:avLst>
              <a:gd name="adj" fmla="val 307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212080" y="21305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212080" y="2587752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Classification Agent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212080" y="3291840"/>
            <a:ext cx="175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anomalies to a known fraud taxonomy, audited independently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296912" y="1965960"/>
            <a:ext cx="2084832" cy="2743200"/>
          </a:xfrm>
          <a:prstGeom prst="roundRect">
            <a:avLst>
              <a:gd name="adj" fmla="val 307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461504" y="21305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7461504" y="2587752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Drafting Agent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461504" y="3291840"/>
            <a:ext cx="175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Assembles the investigator brief from verified, evidence backed input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9546336" y="1965960"/>
            <a:ext cx="2084832" cy="2743200"/>
          </a:xfrm>
          <a:prstGeom prst="roundRect">
            <a:avLst>
              <a:gd name="adj" fmla="val 307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9710928" y="21305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9710928" y="2587752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Agent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9710928" y="3291840"/>
            <a:ext cx="175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 other agents' work against the data before a human ever sees it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48640" y="4983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Alongside this, unsupervised methods such as autoencoders trained on normal billing behavior would catch novel schemes that don't match any known pattern.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822960" y="57607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1204</Words>
  <Application>Microsoft Macintosh PowerPoint</Application>
  <PresentationFormat>Widescreen</PresentationFormat>
  <Paragraphs>121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Provider Fraud Intelligence System</dc:title>
  <dc:subject>PptxGenJS Presentation</dc:subject>
  <dc:creator>Aditya Mittal</dc:creator>
  <cp:lastModifiedBy>Mittal, Aditya</cp:lastModifiedBy>
  <cp:revision>6</cp:revision>
  <dcterms:created xsi:type="dcterms:W3CDTF">2026-06-30T15:46:42Z</dcterms:created>
  <dcterms:modified xsi:type="dcterms:W3CDTF">2026-07-01T13:55:47Z</dcterms:modified>
</cp:coreProperties>
</file>